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9"/>
    <p:restoredTop sz="94683"/>
  </p:normalViewPr>
  <p:slideViewPr>
    <p:cSldViewPr snapToGrid="0" snapToObjects="1">
      <p:cViewPr varScale="1">
        <p:scale>
          <a:sx n="82" d="100"/>
          <a:sy n="82" d="100"/>
        </p:scale>
        <p:origin x="1232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2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05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93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2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86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1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52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852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92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71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5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5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574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9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474BD5-5CDD-4624-B265-461D5D2FA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6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465057-ABD4-4466-88C9-A2BAA35AA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5E4BFB-25DE-4F68-9B68-84A2B82F0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2592050-892D-42D8-87A3-51CAAE3F8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704A88B-D25F-4365-AEE9-96B4C317D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A6A028A-BFCA-40DB-9150-441F194C3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BD57C26-95AD-4761-85D5-DF3ED082D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D9B5858-84F4-4E79-8322-394CBA711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22D1B95-2B54-43E9-85D9-B489F6C5DD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7D0F3F6D-A49D-4406-8D61-1C4F8D79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D953A318-DA8D-4405-9536-D889E45C5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E382A3D-2F90-475C-8DF2-F666FEA34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90252-5EC8-8745-AA28-8C8D4E7D0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378" y="1143000"/>
            <a:ext cx="6619243" cy="3389217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700">
                <a:solidFill>
                  <a:srgbClr val="FFFFFF"/>
                </a:solidFill>
              </a:rPr>
              <a:t>Developing hypotheses </a:t>
            </a:r>
            <a:r>
              <a:rPr lang="en-US" sz="5700" dirty="0">
                <a:solidFill>
                  <a:srgbClr val="FFFFFF"/>
                </a:solidFill>
              </a:rPr>
              <a:t>based on public databases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E1258-C166-4D45-B4A0-8F14F3536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2378" y="5240851"/>
            <a:ext cx="6619243" cy="828932"/>
          </a:xfrm>
        </p:spPr>
        <p:txBody>
          <a:bodyPr>
            <a:normAutofit/>
          </a:bodyPr>
          <a:lstStyle/>
          <a:p>
            <a:pPr algn="ctr"/>
            <a:r>
              <a:rPr lang="en-US" sz="2100">
                <a:solidFill>
                  <a:schemeClr val="tx2"/>
                </a:solidFill>
              </a:rPr>
              <a:t>Shaimar R. González Morales</a:t>
            </a:r>
          </a:p>
        </p:txBody>
      </p:sp>
    </p:spTree>
    <p:extLst>
      <p:ext uri="{BB962C8B-B14F-4D97-AF65-F5344CB8AC3E}">
        <p14:creationId xmlns:p14="http://schemas.microsoft.com/office/powerpoint/2010/main" val="297245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320E-378F-124B-B95A-49BAFD3B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826680"/>
            <a:ext cx="7375161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D4653-9E27-EA4A-B560-95CCD1EC0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2340244"/>
            <a:ext cx="7375161" cy="4048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Analyzing data from NCBI Geo database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-Cleaning data in Excel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-Building graphs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-statistical analysis</a:t>
            </a:r>
          </a:p>
          <a:p>
            <a:pPr marL="0" indent="0">
              <a:buNone/>
            </a:pPr>
            <a:endParaRPr lang="en-US" sz="28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7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77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A509B-36A0-3443-B3E3-58091A1B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data in Excel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B5551A-0CD1-5842-A2A9-DAEFF1765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01" y="2451064"/>
            <a:ext cx="4712931" cy="27028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103C26-7E9C-0A4D-B39D-725378B54676}"/>
              </a:ext>
            </a:extLst>
          </p:cNvPr>
          <p:cNvSpPr txBox="1"/>
          <p:nvPr/>
        </p:nvSpPr>
        <p:spPr>
          <a:xfrm>
            <a:off x="5517396" y="2758698"/>
            <a:ext cx="2991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Delete the row that you are not interested and compare between columns</a:t>
            </a:r>
          </a:p>
        </p:txBody>
      </p:sp>
    </p:spTree>
    <p:extLst>
      <p:ext uri="{BB962C8B-B14F-4D97-AF65-F5344CB8AC3E}">
        <p14:creationId xmlns:p14="http://schemas.microsoft.com/office/powerpoint/2010/main" val="2422672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570A4-496B-9D43-9F79-411E171E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arrays from the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72F061-231A-ED4D-B78E-2B20AE4723FD}"/>
              </a:ext>
            </a:extLst>
          </p:cNvPr>
          <p:cNvSpPr/>
          <p:nvPr/>
        </p:nvSpPr>
        <p:spPr>
          <a:xfrm>
            <a:off x="865970" y="2471656"/>
            <a:ext cx="773365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97CC2"/>
                </a:solidFill>
              </a:rPr>
              <a:t>import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>
                <a:solidFill>
                  <a:srgbClr val="597CC2"/>
                </a:solidFill>
              </a:rPr>
              <a:t>as </a:t>
            </a:r>
            <a:r>
              <a:rPr lang="en-US" dirty="0"/>
              <a:t>np</a:t>
            </a:r>
            <a:br>
              <a:rPr lang="en-US" dirty="0"/>
            </a:br>
            <a:r>
              <a:rPr lang="en-US" dirty="0">
                <a:solidFill>
                  <a:srgbClr val="597CC2"/>
                </a:solidFill>
              </a:rPr>
              <a:t>from </a:t>
            </a:r>
            <a:r>
              <a:rPr lang="en-US" dirty="0" err="1"/>
              <a:t>scipy</a:t>
            </a:r>
            <a:r>
              <a:rPr lang="en-US" dirty="0"/>
              <a:t> </a:t>
            </a:r>
            <a:r>
              <a:rPr lang="en-US" dirty="0">
                <a:solidFill>
                  <a:srgbClr val="597CC2"/>
                </a:solidFill>
              </a:rPr>
              <a:t>import </a:t>
            </a:r>
            <a:r>
              <a:rPr lang="en-US" dirty="0"/>
              <a:t>stats</a:t>
            </a:r>
            <a:br>
              <a:rPr lang="en-US" dirty="0"/>
            </a:br>
            <a:r>
              <a:rPr lang="en-US" dirty="0"/>
              <a:t>E2E=</a:t>
            </a:r>
            <a:r>
              <a:rPr lang="en-US" dirty="0" err="1"/>
              <a:t>np.array</a:t>
            </a:r>
            <a:r>
              <a:rPr lang="en-US" dirty="0"/>
              <a:t>([</a:t>
            </a:r>
            <a:r>
              <a:rPr lang="en-US" dirty="0">
                <a:solidFill>
                  <a:srgbClr val="267DFF"/>
                </a:solidFill>
              </a:rPr>
              <a:t>108.75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42.68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25.71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174.89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100.88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35.96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71.95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27.93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31.39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20.33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15.15</a:t>
            </a:r>
            <a:r>
              <a:rPr lang="en-US" dirty="0"/>
              <a:t>])</a:t>
            </a:r>
            <a:br>
              <a:rPr lang="en-US" dirty="0"/>
            </a:br>
            <a:r>
              <a:rPr lang="en-US" dirty="0"/>
              <a:t>E1E=</a:t>
            </a:r>
            <a:r>
              <a:rPr lang="en-US" dirty="0" err="1"/>
              <a:t>np.array</a:t>
            </a:r>
            <a:r>
              <a:rPr lang="en-US" dirty="0"/>
              <a:t>([</a:t>
            </a:r>
            <a:r>
              <a:rPr lang="en-US" dirty="0">
                <a:solidFill>
                  <a:srgbClr val="267DFF"/>
                </a:solidFill>
              </a:rPr>
              <a:t>65.16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38.05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50.79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12.2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70.31</a:t>
            </a:r>
            <a:r>
              <a:rPr lang="en-US" dirty="0"/>
              <a:t>])</a:t>
            </a:r>
            <a:br>
              <a:rPr lang="en-US" dirty="0"/>
            </a:br>
            <a:r>
              <a:rPr lang="en-US" dirty="0"/>
              <a:t>E2M=</a:t>
            </a:r>
            <a:r>
              <a:rPr lang="en-US" dirty="0" err="1"/>
              <a:t>np.array</a:t>
            </a:r>
            <a:r>
              <a:rPr lang="en-US" dirty="0"/>
              <a:t>([</a:t>
            </a:r>
            <a:r>
              <a:rPr lang="en-US" dirty="0">
                <a:solidFill>
                  <a:srgbClr val="267DFF"/>
                </a:solidFill>
              </a:rPr>
              <a:t>34.54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36.41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209.91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69.88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5.22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70.51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125.42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26.84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71.78</a:t>
            </a:r>
            <a:r>
              <a:rPr lang="en-US" dirty="0">
                <a:solidFill>
                  <a:srgbClr val="5C7AB8"/>
                </a:solidFill>
              </a:rPr>
              <a:t>,</a:t>
            </a:r>
            <a:r>
              <a:rPr lang="en-US" dirty="0">
                <a:solidFill>
                  <a:srgbClr val="267DFF"/>
                </a:solidFill>
              </a:rPr>
              <a:t>72.47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41.47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64.31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6.74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12.18</a:t>
            </a:r>
            <a:r>
              <a:rPr lang="en-US" dirty="0"/>
              <a:t>])</a:t>
            </a:r>
            <a:br>
              <a:rPr lang="en-US" dirty="0"/>
            </a:br>
            <a:r>
              <a:rPr lang="en-US" dirty="0"/>
              <a:t>E1M=</a:t>
            </a:r>
            <a:r>
              <a:rPr lang="en-US" dirty="0" err="1"/>
              <a:t>np.array</a:t>
            </a:r>
            <a:r>
              <a:rPr lang="en-US" dirty="0"/>
              <a:t>([</a:t>
            </a:r>
            <a:r>
              <a:rPr lang="en-US" dirty="0">
                <a:solidFill>
                  <a:srgbClr val="267DFF"/>
                </a:solidFill>
              </a:rPr>
              <a:t>123.85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66.88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14.28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67.61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17.77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118.53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92.6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58.04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9.05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7.54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87.78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113.42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23.64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68.55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83.58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33.12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49.72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267DFF"/>
                </a:solidFill>
              </a:rPr>
              <a:t>48.07</a:t>
            </a:r>
            <a:r>
              <a:rPr lang="en-US" dirty="0"/>
              <a:t>])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7A7A7A"/>
                </a:solidFill>
              </a:rPr>
              <a:t>#Combine the arrays from the different measurements into one array</a:t>
            </a:r>
            <a:br>
              <a:rPr lang="en-US" dirty="0">
                <a:solidFill>
                  <a:srgbClr val="7A7A7A"/>
                </a:solidFill>
              </a:rPr>
            </a:br>
            <a:r>
              <a:rPr lang="en-US" dirty="0"/>
              <a:t>Epi=</a:t>
            </a:r>
            <a:r>
              <a:rPr lang="en-US" dirty="0" err="1"/>
              <a:t>np.concatenate</a:t>
            </a:r>
            <a:r>
              <a:rPr lang="en-US" dirty="0"/>
              <a:t>([E1E] +  [E2E])</a:t>
            </a:r>
            <a:br>
              <a:rPr lang="en-US" dirty="0"/>
            </a:br>
            <a:r>
              <a:rPr lang="en-US" dirty="0" err="1"/>
              <a:t>Mes</a:t>
            </a:r>
            <a:r>
              <a:rPr lang="en-US" dirty="0"/>
              <a:t>=</a:t>
            </a:r>
            <a:r>
              <a:rPr lang="en-US" dirty="0" err="1"/>
              <a:t>np.concatenate</a:t>
            </a:r>
            <a:r>
              <a:rPr lang="en-US" dirty="0"/>
              <a:t>([E1M] + [E2M])</a:t>
            </a:r>
          </a:p>
        </p:txBody>
      </p:sp>
    </p:spTree>
    <p:extLst>
      <p:ext uri="{BB962C8B-B14F-4D97-AF65-F5344CB8AC3E}">
        <p14:creationId xmlns:p14="http://schemas.microsoft.com/office/powerpoint/2010/main" val="3772420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76AE-CF21-894B-8B4B-744FF7D3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error bars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2C488F-C0CD-BF45-9C00-702B3AC27D81}"/>
              </a:ext>
            </a:extLst>
          </p:cNvPr>
          <p:cNvSpPr/>
          <p:nvPr/>
        </p:nvSpPr>
        <p:spPr>
          <a:xfrm>
            <a:off x="697424" y="2157749"/>
            <a:ext cx="760966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A7A7A"/>
                </a:solidFill>
              </a:rPr>
              <a:t>#Calculate the mean</a:t>
            </a:r>
            <a:br>
              <a:rPr lang="en-US" dirty="0">
                <a:solidFill>
                  <a:srgbClr val="7A7A7A"/>
                </a:solidFill>
              </a:rPr>
            </a:br>
            <a:r>
              <a:rPr lang="en-US" dirty="0" err="1"/>
              <a:t>Epi_mean</a:t>
            </a:r>
            <a:r>
              <a:rPr lang="en-US" dirty="0"/>
              <a:t>=</a:t>
            </a:r>
            <a:r>
              <a:rPr lang="en-US" dirty="0" err="1"/>
              <a:t>np.mean</a:t>
            </a:r>
            <a:r>
              <a:rPr lang="en-US" dirty="0"/>
              <a:t>(Epi)</a:t>
            </a:r>
            <a:br>
              <a:rPr lang="en-US" dirty="0"/>
            </a:br>
            <a:r>
              <a:rPr lang="en-US" dirty="0" err="1"/>
              <a:t>Mes_mean</a:t>
            </a:r>
            <a:r>
              <a:rPr lang="en-US" dirty="0"/>
              <a:t>=</a:t>
            </a:r>
            <a:r>
              <a:rPr lang="en-US" dirty="0" err="1"/>
              <a:t>np.mean</a:t>
            </a:r>
            <a:r>
              <a:rPr lang="en-US" dirty="0"/>
              <a:t>(</a:t>
            </a:r>
            <a:r>
              <a:rPr lang="en-US" dirty="0" err="1"/>
              <a:t>Mes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7A7A7A"/>
                </a:solidFill>
              </a:rPr>
              <a:t>#Calculate Standard deviation</a:t>
            </a:r>
            <a:br>
              <a:rPr lang="en-US" dirty="0">
                <a:solidFill>
                  <a:srgbClr val="7A7A7A"/>
                </a:solidFill>
              </a:rPr>
            </a:br>
            <a:r>
              <a:rPr lang="en-US" dirty="0" err="1"/>
              <a:t>Epi_std</a:t>
            </a:r>
            <a:r>
              <a:rPr lang="en-US" dirty="0"/>
              <a:t>=</a:t>
            </a:r>
            <a:r>
              <a:rPr lang="en-US" dirty="0" err="1"/>
              <a:t>np.std</a:t>
            </a:r>
            <a:r>
              <a:rPr lang="en-US" dirty="0"/>
              <a:t>(Epi)</a:t>
            </a:r>
            <a:br>
              <a:rPr lang="en-US" dirty="0"/>
            </a:br>
            <a:r>
              <a:rPr lang="en-US" dirty="0" err="1"/>
              <a:t>Mes_std</a:t>
            </a:r>
            <a:r>
              <a:rPr lang="en-US" dirty="0"/>
              <a:t>=</a:t>
            </a:r>
            <a:r>
              <a:rPr lang="en-US" dirty="0" err="1"/>
              <a:t>np.std</a:t>
            </a:r>
            <a:r>
              <a:rPr lang="en-US" dirty="0"/>
              <a:t>(</a:t>
            </a:r>
            <a:r>
              <a:rPr lang="en-US" dirty="0" err="1"/>
              <a:t>Mes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7A7A7A"/>
                </a:solidFill>
              </a:rPr>
              <a:t># Error bars</a:t>
            </a:r>
            <a:br>
              <a:rPr lang="en-US" dirty="0">
                <a:solidFill>
                  <a:srgbClr val="7A7A7A"/>
                </a:solidFill>
              </a:rPr>
            </a:br>
            <a:r>
              <a:rPr lang="en-US" dirty="0" err="1"/>
              <a:t>Cell_types</a:t>
            </a:r>
            <a:r>
              <a:rPr lang="en-US" dirty="0"/>
              <a:t>=[</a:t>
            </a:r>
            <a:r>
              <a:rPr lang="en-US" b="1" dirty="0">
                <a:solidFill>
                  <a:srgbClr val="807D6E"/>
                </a:solidFill>
              </a:rPr>
              <a:t>‘Epi'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b="1" dirty="0">
                <a:solidFill>
                  <a:srgbClr val="807D6E"/>
                </a:solidFill>
              </a:rPr>
              <a:t>'</a:t>
            </a:r>
            <a:r>
              <a:rPr lang="en-US" b="1" dirty="0" err="1">
                <a:solidFill>
                  <a:srgbClr val="807D6E"/>
                </a:solidFill>
              </a:rPr>
              <a:t>Mes</a:t>
            </a:r>
            <a:r>
              <a:rPr lang="en-US" b="1" dirty="0">
                <a:solidFill>
                  <a:srgbClr val="807D6E"/>
                </a:solidFill>
              </a:rPr>
              <a:t>'</a:t>
            </a:r>
            <a:r>
              <a:rPr lang="en-US" dirty="0"/>
              <a:t>]</a:t>
            </a:r>
            <a:br>
              <a:rPr lang="en-US" dirty="0"/>
            </a:br>
            <a:r>
              <a:rPr lang="en-US" dirty="0" err="1"/>
              <a:t>x_pos</a:t>
            </a:r>
            <a:r>
              <a:rPr lang="en-US" dirty="0"/>
              <a:t>=</a:t>
            </a:r>
            <a:r>
              <a:rPr lang="en-US" dirty="0" err="1"/>
              <a:t>np.arange</a:t>
            </a:r>
            <a:r>
              <a:rPr lang="en-US" dirty="0"/>
              <a:t>(</a:t>
            </a:r>
            <a:r>
              <a:rPr lang="en-US" dirty="0" err="1">
                <a:solidFill>
                  <a:srgbClr val="8888C6"/>
                </a:solidFill>
              </a:rPr>
              <a:t>len</a:t>
            </a:r>
            <a:r>
              <a:rPr lang="en-US" dirty="0"/>
              <a:t>(</a:t>
            </a:r>
            <a:r>
              <a:rPr lang="en-US" dirty="0" err="1"/>
              <a:t>Cell_types</a:t>
            </a:r>
            <a:r>
              <a:rPr lang="en-US" dirty="0"/>
              <a:t>))</a:t>
            </a:r>
            <a:br>
              <a:rPr lang="en-US" dirty="0"/>
            </a:br>
            <a:r>
              <a:rPr lang="en-US" dirty="0" err="1"/>
              <a:t>meanbars</a:t>
            </a:r>
            <a:r>
              <a:rPr lang="en-US" dirty="0"/>
              <a:t>=[</a:t>
            </a:r>
            <a:r>
              <a:rPr lang="en-US" dirty="0" err="1"/>
              <a:t>Epi_mean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 err="1"/>
              <a:t>Mes_mean</a:t>
            </a:r>
            <a:r>
              <a:rPr lang="en-US" dirty="0"/>
              <a:t>]</a:t>
            </a:r>
            <a:br>
              <a:rPr lang="en-US" dirty="0"/>
            </a:br>
            <a:r>
              <a:rPr lang="en-US" dirty="0"/>
              <a:t>error=[</a:t>
            </a:r>
            <a:r>
              <a:rPr lang="en-US" dirty="0" err="1"/>
              <a:t>Epi_std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 err="1"/>
              <a:t>Mes_std</a:t>
            </a:r>
            <a:r>
              <a:rPr lang="en-US" dirty="0"/>
              <a:t>]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23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1313-78D8-FC4F-9096-E82BCDAD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Customizing the graphs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1A4B0-B709-F44D-B853-DE2101BBA781}"/>
              </a:ext>
            </a:extLst>
          </p:cNvPr>
          <p:cNvSpPr/>
          <p:nvPr/>
        </p:nvSpPr>
        <p:spPr>
          <a:xfrm>
            <a:off x="426203" y="2413407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97CC2"/>
                </a:solidFill>
              </a:rPr>
              <a:t>import </a:t>
            </a:r>
            <a:r>
              <a:rPr lang="en-US" dirty="0" err="1"/>
              <a:t>matplotlib.pyplot</a:t>
            </a:r>
            <a:r>
              <a:rPr lang="en-US" dirty="0"/>
              <a:t> </a:t>
            </a:r>
            <a:r>
              <a:rPr lang="en-US" dirty="0">
                <a:solidFill>
                  <a:srgbClr val="597CC2"/>
                </a:solidFill>
              </a:rPr>
              <a:t>as </a:t>
            </a:r>
            <a:r>
              <a:rPr lang="en-US" dirty="0" err="1"/>
              <a:t>plt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7A7A7A"/>
                </a:solidFill>
              </a:rPr>
              <a:t># Build the plot</a:t>
            </a:r>
            <a:br>
              <a:rPr lang="en-US" dirty="0">
                <a:solidFill>
                  <a:srgbClr val="7A7A7A"/>
                </a:solidFill>
              </a:rPr>
            </a:br>
            <a:r>
              <a:rPr lang="en-US" dirty="0"/>
              <a:t>fig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/>
              <a:t>ax = </a:t>
            </a:r>
            <a:r>
              <a:rPr lang="en-US" dirty="0" err="1"/>
              <a:t>plt.subplots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 err="1"/>
              <a:t>ax.bar</a:t>
            </a:r>
            <a:r>
              <a:rPr lang="en-US" dirty="0"/>
              <a:t>(</a:t>
            </a:r>
            <a:r>
              <a:rPr lang="en-US" dirty="0" err="1"/>
              <a:t>x_pos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 err="1"/>
              <a:t>meanbars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AA4926"/>
                </a:solidFill>
              </a:rPr>
              <a:t>color</a:t>
            </a:r>
            <a:r>
              <a:rPr lang="en-US" dirty="0"/>
              <a:t>=[</a:t>
            </a:r>
            <a:r>
              <a:rPr lang="en-US" b="1" dirty="0">
                <a:solidFill>
                  <a:srgbClr val="807D6E"/>
                </a:solidFill>
              </a:rPr>
              <a:t>'pink'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b="1" dirty="0">
                <a:solidFill>
                  <a:srgbClr val="807D6E"/>
                </a:solidFill>
              </a:rPr>
              <a:t>'blue'</a:t>
            </a:r>
            <a:r>
              <a:rPr lang="en-US" dirty="0"/>
              <a:t>]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 err="1">
                <a:solidFill>
                  <a:srgbClr val="AA4926"/>
                </a:solidFill>
              </a:rPr>
              <a:t>yerr</a:t>
            </a:r>
            <a:r>
              <a:rPr lang="en-US" dirty="0"/>
              <a:t>=error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AA4926"/>
                </a:solidFill>
              </a:rPr>
              <a:t>align</a:t>
            </a:r>
            <a:r>
              <a:rPr lang="en-US" dirty="0"/>
              <a:t>=</a:t>
            </a:r>
            <a:r>
              <a:rPr lang="en-US" b="1" dirty="0">
                <a:solidFill>
                  <a:srgbClr val="807D6E"/>
                </a:solidFill>
              </a:rPr>
              <a:t>'center'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AA4926"/>
                </a:solidFill>
              </a:rPr>
              <a:t>alpha</a:t>
            </a:r>
            <a:r>
              <a:rPr lang="en-US" dirty="0"/>
              <a:t>=</a:t>
            </a:r>
            <a:r>
              <a:rPr lang="en-US" dirty="0">
                <a:solidFill>
                  <a:srgbClr val="267DFF"/>
                </a:solidFill>
              </a:rPr>
              <a:t>0.5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 err="1">
                <a:solidFill>
                  <a:srgbClr val="AA4926"/>
                </a:solidFill>
              </a:rPr>
              <a:t>ecolor</a:t>
            </a:r>
            <a:r>
              <a:rPr lang="en-US" dirty="0"/>
              <a:t>=</a:t>
            </a:r>
            <a:r>
              <a:rPr lang="en-US" b="1" dirty="0">
                <a:solidFill>
                  <a:srgbClr val="807D6E"/>
                </a:solidFill>
              </a:rPr>
              <a:t>'black'</a:t>
            </a:r>
            <a:r>
              <a:rPr lang="en-US" dirty="0">
                <a:solidFill>
                  <a:srgbClr val="5C7AB8"/>
                </a:solidFill>
              </a:rPr>
              <a:t>, </a:t>
            </a:r>
            <a:r>
              <a:rPr lang="en-US" dirty="0">
                <a:solidFill>
                  <a:srgbClr val="AA4926"/>
                </a:solidFill>
              </a:rPr>
              <a:t>capsize</a:t>
            </a:r>
            <a:r>
              <a:rPr lang="en-US" dirty="0"/>
              <a:t>=</a:t>
            </a:r>
            <a:r>
              <a:rPr lang="en-US" dirty="0">
                <a:solidFill>
                  <a:srgbClr val="267DFF"/>
                </a:solidFill>
              </a:rPr>
              <a:t>10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ax.set_ylabel</a:t>
            </a:r>
            <a:r>
              <a:rPr lang="en-US" dirty="0"/>
              <a:t>(</a:t>
            </a:r>
            <a:r>
              <a:rPr lang="en-US" b="1" dirty="0">
                <a:solidFill>
                  <a:srgbClr val="807D6E"/>
                </a:solidFill>
              </a:rPr>
              <a:t>'mRNA Expression'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ax.set_xticks</a:t>
            </a:r>
            <a:r>
              <a:rPr lang="en-US" dirty="0"/>
              <a:t>(</a:t>
            </a:r>
            <a:r>
              <a:rPr lang="en-US" dirty="0" err="1"/>
              <a:t>x_pos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ax.set_xticklabels</a:t>
            </a:r>
            <a:r>
              <a:rPr lang="en-US" dirty="0"/>
              <a:t>(</a:t>
            </a:r>
            <a:r>
              <a:rPr lang="en-US" dirty="0" err="1"/>
              <a:t>Cell_types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ax.set_title</a:t>
            </a:r>
            <a:r>
              <a:rPr lang="en-US" dirty="0"/>
              <a:t>(</a:t>
            </a:r>
            <a:r>
              <a:rPr lang="en-US" b="1" dirty="0">
                <a:solidFill>
                  <a:srgbClr val="807D6E"/>
                </a:solidFill>
              </a:rPr>
              <a:t>'Aprc4 expression in epithelial and mesenchymal cells'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ax.yaxis.grid</a:t>
            </a:r>
            <a:r>
              <a:rPr lang="en-US" dirty="0"/>
              <a:t>(</a:t>
            </a:r>
            <a:r>
              <a:rPr lang="en-US" dirty="0">
                <a:solidFill>
                  <a:srgbClr val="597CC2"/>
                </a:solidFill>
              </a:rPr>
              <a:t>True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28BE5-CAB4-A843-A68A-C40B78A4CD99}"/>
              </a:ext>
            </a:extLst>
          </p:cNvPr>
          <p:cNvSpPr/>
          <p:nvPr/>
        </p:nvSpPr>
        <p:spPr>
          <a:xfrm>
            <a:off x="5455404" y="2413407"/>
            <a:ext cx="32236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A7A7A"/>
                </a:solidFill>
              </a:rPr>
              <a:t># Save the figure and show</a:t>
            </a:r>
            <a:br>
              <a:rPr lang="en-US" dirty="0">
                <a:solidFill>
                  <a:srgbClr val="7A7A7A"/>
                </a:solidFill>
              </a:rPr>
            </a:br>
            <a:r>
              <a:rPr lang="en-US" dirty="0" err="1"/>
              <a:t>plt.tight_layout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 err="1"/>
              <a:t>plt.savefig</a:t>
            </a:r>
            <a:r>
              <a:rPr lang="en-US" dirty="0"/>
              <a:t>(</a:t>
            </a:r>
            <a:r>
              <a:rPr lang="en-US" b="1" dirty="0">
                <a:solidFill>
                  <a:srgbClr val="807D6E"/>
                </a:solidFill>
              </a:rPr>
              <a:t>'Aprc4_mRNAexpression_E10.5.png'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FC3FD7-E1C7-8D4A-BEFF-B4A369434A45}"/>
              </a:ext>
            </a:extLst>
          </p:cNvPr>
          <p:cNvSpPr/>
          <p:nvPr/>
        </p:nvSpPr>
        <p:spPr>
          <a:xfrm>
            <a:off x="5455404" y="4344012"/>
            <a:ext cx="34483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#t-test and p-value</a:t>
            </a:r>
            <a:br>
              <a:rPr lang="en-US" dirty="0"/>
            </a:br>
            <a:r>
              <a:rPr lang="en-US" dirty="0"/>
              <a:t>t, p = </a:t>
            </a:r>
            <a:r>
              <a:rPr lang="en-US" dirty="0" err="1"/>
              <a:t>stats.ttest_ind</a:t>
            </a:r>
            <a:r>
              <a:rPr lang="en-US" dirty="0"/>
              <a:t>(</a:t>
            </a:r>
            <a:r>
              <a:rPr lang="en-US" dirty="0" err="1"/>
              <a:t>Mes,Epi</a:t>
            </a:r>
            <a:r>
              <a:rPr lang="en-US" dirty="0"/>
              <a:t>, </a:t>
            </a:r>
            <a:r>
              <a:rPr lang="en-US" dirty="0" err="1"/>
              <a:t>equal_var</a:t>
            </a:r>
            <a:r>
              <a:rPr lang="en-US" dirty="0"/>
              <a:t>=False)</a:t>
            </a:r>
            <a:br>
              <a:rPr lang="en-US" dirty="0"/>
            </a:br>
            <a:r>
              <a:rPr lang="en-US" dirty="0"/>
              <a:t>print(</a:t>
            </a:r>
            <a:r>
              <a:rPr lang="en-US" b="1" dirty="0"/>
              <a:t>"t = " </a:t>
            </a:r>
            <a:r>
              <a:rPr lang="en-US" dirty="0"/>
              <a:t>+ </a:t>
            </a:r>
            <a:r>
              <a:rPr lang="en-US" dirty="0" err="1"/>
              <a:t>str</a:t>
            </a:r>
            <a:r>
              <a:rPr lang="en-US" dirty="0"/>
              <a:t>(t))</a:t>
            </a:r>
            <a:br>
              <a:rPr lang="en-US" dirty="0"/>
            </a:br>
            <a:r>
              <a:rPr lang="en-US" dirty="0"/>
              <a:t>print(</a:t>
            </a:r>
            <a:r>
              <a:rPr lang="en-US" b="1" dirty="0"/>
              <a:t>"p = " </a:t>
            </a:r>
            <a:r>
              <a:rPr lang="en-US" dirty="0"/>
              <a:t>+ </a:t>
            </a:r>
            <a:r>
              <a:rPr lang="en-US" dirty="0" err="1"/>
              <a:t>str</a:t>
            </a:r>
            <a:r>
              <a:rPr lang="en-US" dirty="0"/>
              <a:t>(p))</a:t>
            </a:r>
          </a:p>
        </p:txBody>
      </p:sp>
    </p:spTree>
    <p:extLst>
      <p:ext uri="{BB962C8B-B14F-4D97-AF65-F5344CB8AC3E}">
        <p14:creationId xmlns:p14="http://schemas.microsoft.com/office/powerpoint/2010/main" val="1628691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691E-924B-264C-90F7-D76B63D01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867684" cy="709865"/>
          </a:xfrm>
        </p:spPr>
        <p:txBody>
          <a:bodyPr/>
          <a:lstStyle/>
          <a:p>
            <a:r>
              <a:rPr lang="en-US" dirty="0"/>
              <a:t>Graph= GSM3027039_lung_E10.5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FF5C0-6BC5-8147-AB8A-0C86BE438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60" y="2234650"/>
            <a:ext cx="5842000" cy="438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89FF51-C515-314E-9E06-3F11DF0174A3}"/>
              </a:ext>
            </a:extLst>
          </p:cNvPr>
          <p:cNvSpPr txBox="1"/>
          <p:nvPr/>
        </p:nvSpPr>
        <p:spPr>
          <a:xfrm>
            <a:off x="6124760" y="2898183"/>
            <a:ext cx="27092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choose blue and pink but you can change the colors by just changing color=[‘’] to your favorite colors</a:t>
            </a:r>
          </a:p>
        </p:txBody>
      </p:sp>
    </p:spTree>
    <p:extLst>
      <p:ext uri="{BB962C8B-B14F-4D97-AF65-F5344CB8AC3E}">
        <p14:creationId xmlns:p14="http://schemas.microsoft.com/office/powerpoint/2010/main" val="31895572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{FFF4DC92-4691-074B-87A2-B405A08A1936}tf10001076</Template>
  <TotalTime>66</TotalTime>
  <Words>108</Words>
  <Application>Microsoft Macintosh PowerPoint</Application>
  <PresentationFormat>On-screen Show (4:3)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Developing hypotheses based on public databases</vt:lpstr>
      <vt:lpstr>Overview</vt:lpstr>
      <vt:lpstr>Cleaning data in Excel</vt:lpstr>
      <vt:lpstr>Creating arrays from the data</vt:lpstr>
      <vt:lpstr>Creating the error bars</vt:lpstr>
      <vt:lpstr>Customizing the graphs</vt:lpstr>
      <vt:lpstr>Graph= GSM3027039_lung_E10.5</vt:lpstr>
    </vt:vector>
  </TitlesOfParts>
  <Manager/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Gonzalez, Shaimar Roselyn</cp:lastModifiedBy>
  <cp:revision>7</cp:revision>
  <cp:lastPrinted>2018-12-06T15:20:47Z</cp:lastPrinted>
  <dcterms:created xsi:type="dcterms:W3CDTF">2013-01-27T09:14:16Z</dcterms:created>
  <dcterms:modified xsi:type="dcterms:W3CDTF">2018-12-06T15:20:49Z</dcterms:modified>
  <cp:category/>
</cp:coreProperties>
</file>